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F5D005-815A-4314-B2FB-2E24D6EE5F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465D5D-5AE2-40AB-B8D2-832A4D51EE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22A15C-FBEB-4526-AF83-71B2BA0EF7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20C432-BA5F-4DBD-AE56-804D77B9CE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771840-24C2-4716-9064-A48634C773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5B9B52-CBBC-4F4D-B3EE-E4BC21B4DC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6C8CFC-3599-4C5F-B93F-64EA5B622C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A02F94-9DAD-4D5D-A0DE-D2FE7D116A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4405AD-A843-4AB5-99D3-E45528F85E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F72888-E235-421C-8E14-41E4F0CD51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E6D087-97DA-40C0-A595-10DC10D0AC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728477-84E8-4B3A-A988-70A9A03A8B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B3B70AE-75D7-403C-8518-EC20F398E5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6817C3-003B-43F3-A71B-FC54EB8F4D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6732A39-D1B1-4583-BC50-77E9A91C23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A5317C-0E10-45D4-8B43-B84996ACD5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44E43C-90E5-4E50-BB22-8A459CCAC2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AB55FD0-4964-4C58-A312-4949C4E2F5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77B3F20-A6F8-49B3-9B7F-09CCD23D48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E5B41C-27AC-4218-A1B1-73ADF9D1FA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729C014-CCBA-4BD1-8F9F-B3F2762D9C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9A6A4A-5E17-477E-AD72-EB33176674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EF46C8-D50A-45B4-B44C-3C8F62F69A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824A3EE-C0A1-405A-9B1B-D0E34432B55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BA2089-D5AD-469E-B7B6-337016323592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&lt;footer&gt;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BE835C-C5CA-49D8-95C2-E9B96685EC9C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4" descr=""/>
          <p:cNvPicPr/>
          <p:nvPr/>
        </p:nvPicPr>
        <p:blipFill>
          <a:blip r:embed="rId1"/>
          <a:stretch/>
        </p:blipFill>
        <p:spPr>
          <a:xfrm>
            <a:off x="3837240" y="-11520"/>
            <a:ext cx="4516920" cy="1870920"/>
          </a:xfrm>
          <a:prstGeom prst="rect">
            <a:avLst/>
          </a:prstGeom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828800" y="1537560"/>
            <a:ext cx="8923680" cy="211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IN" sz="20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B.Tech – BCSE497J</a:t>
            </a:r>
            <a:br>
              <a:rPr sz="2000"/>
            </a:br>
            <a:br>
              <a:rPr sz="3200"/>
            </a:br>
            <a:r>
              <a:rPr b="1" lang="en-IN" sz="3200" spc="-1" strike="noStrike">
                <a:solidFill>
                  <a:srgbClr val="000000"/>
                </a:solidFill>
                <a:latin typeface="Times New Roman"/>
              </a:rPr>
              <a:t>REAL-TIME CROWD TURBULENCE AND STAMPEDE HAZARD PREDICTION IN PUBLIC INFRASTRUCTURE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84" name="object 3"/>
          <p:cNvSpPr/>
          <p:nvPr/>
        </p:nvSpPr>
        <p:spPr>
          <a:xfrm>
            <a:off x="2301480" y="3657600"/>
            <a:ext cx="7070760" cy="27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2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000" spc="-21" strike="noStrike">
                <a:solidFill>
                  <a:srgbClr val="000000"/>
                </a:solidFill>
                <a:latin typeface="Times New Roman"/>
                <a:ea typeface="DejaVu Sans"/>
              </a:rPr>
              <a:t>Team</a:t>
            </a:r>
            <a:r>
              <a:rPr b="0" lang="en-US" sz="2000" spc="-8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members:</a:t>
            </a:r>
            <a:endParaRPr b="0" lang="en-US" sz="2000" spc="-1" strike="noStrike"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Times New Roman"/>
              <a:buChar char="•"/>
              <a:tabLst>
                <a:tab algn="l" pos="149400"/>
              </a:tabLst>
            </a:pP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Kadali Navneet Sai</a:t>
            </a: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(Reg. No. 23BCI0098)</a:t>
            </a:r>
            <a:endParaRPr b="0" lang="en-US" sz="2000" spc="-1" strike="noStrike"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Times New Roman"/>
              <a:buChar char="•"/>
              <a:tabLst>
                <a:tab algn="l" pos="149400"/>
              </a:tabLst>
            </a:pP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Korupolu Manudeep</a:t>
            </a: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(Reg. No. 23BCE0429)</a:t>
            </a:r>
            <a:endParaRPr b="0" lang="en-US" sz="2000" spc="-1" strike="noStrike"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Times New Roman"/>
              <a:buChar char="•"/>
              <a:tabLst>
                <a:tab algn="l" pos="149400"/>
              </a:tabLst>
            </a:pP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Boddu Vinesh</a:t>
            </a: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1" lang="en-I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(Reg. No. 23BDS0138)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  <a:tabLst>
                <a:tab algn="l" pos="149400"/>
              </a:tabLst>
            </a:pPr>
            <a:endParaRPr b="0" lang="en-US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  <a:buNone/>
              <a:tabLst>
                <a:tab algn="l" pos="149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Faculty</a:t>
            </a:r>
            <a:r>
              <a:rPr b="0" lang="en-US" sz="2000" spc="-6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guide</a:t>
            </a:r>
            <a:r>
              <a:rPr b="0" lang="en-US" sz="2000" spc="-5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Times New Roman"/>
                <a:ea typeface="DejaVu Sans"/>
              </a:rPr>
              <a:t>:</a:t>
            </a:r>
            <a:endParaRPr b="0" lang="en-US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  <a:buNone/>
              <a:tabLst>
                <a:tab algn="l" pos="149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Dr. Kopperundevi N</a:t>
            </a:r>
            <a:endParaRPr b="0" lang="en-US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  <a:buNone/>
              <a:tabLst>
                <a:tab algn="l" pos="149400"/>
              </a:tabLst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4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To design and deploy a real-time, edge-AI crowd monitoring system on a low-power embedded camera (Realtek AmebaPro2, RTL8735B NPU) that detects people and estimates crowd density in public infrastructure such as railway stations, stadiums, and religious gatherings — running a quantized YOLO26 model fully on the onboard VIP8000 Nano NPU so raw video never leaves the device (privacy-preserving edge inference).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To convert per-frame detections into a persons-per-m² density heatmap and, using optical-flow crowd-motion cues (speed variance, flow direction, counter-flow), compute a turbulence/hazard score over high-risk chokepoint and region-of-interest zones (gates, staircases, platforms).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To stream live, detection-annotated video to a remote control room over AWS Kinesis Video Streams (KVS) WebRTC for secure, low-latency verification, and to push AWS IoT / MQTT alerts to operators the instant a hazard threshold is crossed.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To raise tiered early-warning alerts (Normal / Caution / Critical) before a stampede-prone condition develops, and log density/flow metrics on-device for post-event review and venue capacity planning.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838080" y="398160"/>
            <a:ext cx="10514880" cy="1258560"/>
          </a:xfrm>
          <a:prstGeom prst="rect">
            <a:avLst/>
          </a:prstGeom>
          <a:noFill/>
          <a:ln w="0">
            <a:noFill/>
          </a:ln>
        </p:spPr>
        <p:txBody>
          <a:bodyPr lIns="0" rIns="0" tIns="113760" bIns="0" anchor="ctr">
            <a:noAutofit/>
          </a:bodyPr>
          <a:p>
            <a:pPr marL="486360">
              <a:lnSpc>
                <a:spcPct val="100000"/>
              </a:lnSpc>
              <a:spcBef>
                <a:spcPts val="130"/>
              </a:spcBef>
              <a:buNone/>
            </a:pPr>
            <a:r>
              <a:rPr b="1" lang="en-US" sz="3000" spc="-26" strike="noStrike">
                <a:solidFill>
                  <a:srgbClr val="000000"/>
                </a:solidFill>
                <a:latin typeface="Times New Roman"/>
              </a:rPr>
              <a:t>Aim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SCOPE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F56F95-1FF2-44F0-829E-4789E5A06305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4AF9BE7B-EC16-45CC-8E70-12CBB5D73AF9}" type="datetime1">
              <a:rPr lang="en-US"/>
              <a:t>07/20/2026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1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Public gatherings at railway stations, stadiums, religious events, and other high-footfall infrastructure are increasingly prone to stampede incidents caused by sudden crowd turbulence, chokepoints, and delayed situational awareness; conventional CCTV monitoring relies on manual observation or cloud-only analytics, both of which add latency and scale poorly.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This project presents a real-time, edge-AI crowd monitoring system on the Realtek AmebaPro2 (RTL8735B) embedded camera: a lightweight YOLO26 detection model, quantized for the onboard VIP8000 Nano NPU, performs on-device person detection and a persons-per-m² density estimate without offloading raw video to the cloud (privacy-preserving edge inference). Density is fused with optical-flow crowd-motion cues speed variance and counter-flow across chokepoint/ROI zones into a turbulence/hazard score that drives tiered early-warning alerts (Normal/Caution/Critical).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Detection-annotated video is streamed live via AWS KVS WebRTC to a control-room viewer with sub-second latency, and AWS IoT / MQTT alerts are pushed to operators the moment a threshold is crossed reducing bandwidth and cloud dependency while enabling faster, proactive stampede-risk response and on-device logging for post-event review.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838080" y="398160"/>
            <a:ext cx="10514880" cy="1258560"/>
          </a:xfrm>
          <a:prstGeom prst="rect">
            <a:avLst/>
          </a:prstGeom>
          <a:noFill/>
          <a:ln w="0">
            <a:noFill/>
          </a:ln>
        </p:spPr>
        <p:txBody>
          <a:bodyPr lIns="0" rIns="0" tIns="113760" bIns="0" anchor="ctr">
            <a:noAutofit/>
          </a:bodyPr>
          <a:p>
            <a:pPr marL="486360">
              <a:lnSpc>
                <a:spcPct val="100000"/>
              </a:lnSpc>
              <a:spcBef>
                <a:spcPts val="130"/>
              </a:spcBef>
              <a:buNone/>
            </a:pPr>
            <a:r>
              <a:rPr b="1" lang="en-IN" sz="3000" spc="-26" strike="noStrike">
                <a:solidFill>
                  <a:srgbClr val="000000"/>
                </a:solidFill>
                <a:latin typeface="Times New Roman"/>
              </a:rPr>
              <a:t>Abstract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SCOPE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00D92AF-00F3-4B41-B17B-FA997F7ACBA9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0CD1AA84-012A-4617-9ABE-23E9C1229025}" type="datetime1">
              <a:rPr lang="en-US"/>
              <a:t>07/20/2026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560" y="0"/>
            <a:ext cx="10514880" cy="1258560"/>
          </a:xfrm>
          <a:prstGeom prst="rect">
            <a:avLst/>
          </a:prstGeom>
          <a:noFill/>
          <a:ln w="0">
            <a:noFill/>
          </a:ln>
        </p:spPr>
        <p:txBody>
          <a:bodyPr lIns="0" rIns="0" tIns="113760" bIns="0" anchor="ctr">
            <a:noAutofit/>
          </a:bodyPr>
          <a:p>
            <a:pPr marL="486360">
              <a:lnSpc>
                <a:spcPct val="100000"/>
              </a:lnSpc>
              <a:spcBef>
                <a:spcPts val="130"/>
              </a:spcBef>
              <a:buNone/>
            </a:pPr>
            <a:r>
              <a:rPr b="1" lang="en-IN" sz="3000" spc="-26" strike="noStrike">
                <a:solidFill>
                  <a:srgbClr val="000000"/>
                </a:solidFill>
                <a:latin typeface="Times New Roman"/>
              </a:rPr>
              <a:t>Literature Review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90" name="Table 10"/>
          <p:cNvGraphicFramePr/>
          <p:nvPr/>
        </p:nvGraphicFramePr>
        <p:xfrm>
          <a:off x="760680" y="1164240"/>
          <a:ext cx="10168200" cy="3187800"/>
        </p:xfrm>
        <a:graphic>
          <a:graphicData uri="http://schemas.openxmlformats.org/drawingml/2006/table">
            <a:tbl>
              <a:tblPr/>
              <a:tblGrid>
                <a:gridCol w="2237040"/>
                <a:gridCol w="2033640"/>
                <a:gridCol w="2237040"/>
                <a:gridCol w="2033640"/>
                <a:gridCol w="1627200"/>
              </a:tblGrid>
              <a:tr h="259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Pros / Cons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Findings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CrowdSentry (2025)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Stampede-risk prediction at railway stations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YOLOv8 + Deep SORT tracking on calibrated spatial grids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Real per-m² density  – Needs GPU server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Density grid predicts stampede risk zones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YOLOv8 + Spatio-Temporal Modeling (2025)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Predict stampede probability from video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YOLOv8 detection fused with motion/behaviour features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Captures crowd motion  – Offline evaluation only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Stampede probability score per clip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Intelligent Crowd Monitoring (YOLOv8m+CNN-LSTM, 2026)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Early warning for stampede-prone crowds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YOLOv8m detection + CNN-LSTM temporal model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Temporal awareness  – Heavy for edge devices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Early-warning alerts on abnormal flow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Crowd Density Monitoring (IJERT, 2026)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Real-time density monitoring &amp; prevention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Classical CV + deep learning density pipeline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Simple, fast  – No edge/NPU deployment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Threshold-based crowd alerts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Thermal-Camera Stampede Risk (IEEE, 2025)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Density estimation independent of lighting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Thermal imaging + risk-assessment algorithm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Works in low light  – Loses visual/box detail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Comparable density accuracy to RGB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YOLO-Based Real-Time Crowd Detection (2023)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Compare YOLO models for crowd detection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Benchmarks YOLO variants on crowd video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Real-time on GPU  – No edge/quantization study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Guides YOLO choice for crowds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YOLO-CROWD (YOLOv5s, 2023)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Lightweight crowd counting on edge devices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YOLOv5s-based detector, 18.4M params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+ 10.1 ms/frame on edge  – No streaming pipeline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Edge-feasible but not NPU/quantized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Dense Optical-Flow Stampede Detector (2025)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Detect stampede onset in low/medium crowds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Gunnar-Farneback dense optical flow + deep learning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Motion-based, real-time  – Sensitive to camera shake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Reliable stampede-onset detection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6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CNN-LSTM + Farneback Flow (Sci. Reports, 2026)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Stampede detection &amp; crowd-risk classification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Farneback optical flow fused with CNN-LSTM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Spatio-temporal risk classes  – GPU training cost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Risk levels on UCSD/Agoraset data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9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Edge-SoC Detection Benchmark (Sci. Reports, 2026)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Guide YOLO deployment on edge SoCs/NPUs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Reproducible ONNX→quantize→compile NPU benchmark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Practical deploy guidelines  – Not crowd-specific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Quantized YOLO viable on edge NPUs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6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Q-YOLO (2023)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Efficient real-time detection via quantization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Post-training quantization, histogram activation ranges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Near-FP accuracy at low bits  – PTQ tuning needed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Low-bit YOLO retains accuracy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6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Crowd Counting on NPU Platform (CMC, 2023)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Deploy crowd counting on an NPU device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Deep density-map CNN ported to NPU hardware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On-device counting  – Density-map only, no boxes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Real-time NPU crowd counting feasible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6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CSRNet + Attention for Transit (2026)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Crowd counting in public transport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Dilated-CNN CSRNet with parameter-free attention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 Accurate in congestion  – Heavy for MCU-class NPU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Improved MAE on transit crowds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SCOPE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523A0C-060F-489B-BBDA-44619EEBA632}" type="slidenum">
              <a:t>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13D92867-8846-4838-9C79-AF81F4D70A88}" type="datetime1">
              <a:rPr lang="en-US"/>
              <a:t>07/20/2026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4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Existing YOLO with spatio-temporal stampede-prediction pipelines are validated mostly on GPU workstations or offline datasets, not on power-constrained embedded NPUs; edge-board implementations (e.g. Jetson-class) still stream raw video to a central server, adding latency, bandwidth cost, and privacy exposure that limit scale across venues with hundreds of cameras.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Optical-flow / thermal / IoT-sensor approaches either need heavy compute or sacrifice the rich visual context (individual bounding boxes, occlusion handling) that vision-based YOLO detectors provide and few fuse detection density with motion cues into a single actionable hazard score.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No reviewed system combines (a) fully on-device, privacy-preserving NPU inference on a cheap embedded camera, (b) standards-based low-latency WebRTC streaming via AWS KVS with IoT/MQTT alerting for remote verification, and (c) a pipeline explicitly aimed at stampede/turbulence-hazard prediction with tiered early-warning rather than generic people counting.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Chokepoint/ROI-aware density-and-flow analysis (persons-per-m² heatmaps, counter-flow detection) is rarely delivered at the edge in real time on constrained hardware.</a:t>
            </a:r>
            <a:endParaRPr b="0" lang="en-US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Quantization-induced accuracy loss when compressing YOLO models for embedded NPUs (e.g. uint8 dynamic-range collapse of the confidence/box outputs) is rarely addressed in the crowd-safety literature, despite being a key real-world deployment blocker.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460080" y="339840"/>
            <a:ext cx="10514880" cy="1258560"/>
          </a:xfrm>
          <a:prstGeom prst="rect">
            <a:avLst/>
          </a:prstGeom>
          <a:noFill/>
          <a:ln w="0">
            <a:noFill/>
          </a:ln>
        </p:spPr>
        <p:txBody>
          <a:bodyPr lIns="0" rIns="0" tIns="113760" bIns="0" anchor="ctr">
            <a:noAutofit/>
          </a:bodyPr>
          <a:p>
            <a:pPr marL="486360">
              <a:lnSpc>
                <a:spcPct val="100000"/>
              </a:lnSpc>
              <a:spcBef>
                <a:spcPts val="130"/>
              </a:spcBef>
              <a:buNone/>
            </a:pPr>
            <a:r>
              <a:rPr b="1" lang="en-IN" sz="3000" spc="-1" strike="noStrike">
                <a:solidFill>
                  <a:srgbClr val="000000"/>
                </a:solidFill>
                <a:latin typeface="Times New Roman"/>
              </a:rPr>
              <a:t>Research Gap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SCOPE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4DF792-8600-4B29-8229-B7D85DC93087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D656DF62-0770-4603-8C14-F7D36CBEC838}" type="datetime1">
              <a:rPr lang="en-US"/>
              <a:t>07/20/2026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686160" y="13716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Deploy a quantized YOLO26 model on the AmebaPro2 RTL8735B VIP8000 NPU for real-time (≥15 FPS), privacy-preserving on-device person detection.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Compute a frame-wise persons-per-m² density metric and heatmap, focused on chokepoint / region-of-interest zones (gates, staircases, platforms).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Fuse density with optical-flow motion cues (speed variance, counter-flow) into a turbulence/hazard score with tiered (Normal/Caution/Critical) early-warning.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Stream detection-annotated video via low-latency AWS KVS WebRTC and push AWS IoT / MQTT alerts to operators on threshold crossings.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Evaluate quantization trade-offs (uint8 vs. int16) to balance model size, speed, and confidence precision on the NPU; log density/flow metrics for post-event review.</a:t>
            </a:r>
            <a:endParaRPr b="0" lang="en-US" sz="1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Identified SDG 9 and SDG 11 as the primary SDGs relavant to the project.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457560" y="0"/>
            <a:ext cx="10514880" cy="1258560"/>
          </a:xfrm>
          <a:prstGeom prst="rect">
            <a:avLst/>
          </a:prstGeom>
          <a:noFill/>
          <a:ln w="0">
            <a:noFill/>
          </a:ln>
        </p:spPr>
        <p:txBody>
          <a:bodyPr lIns="0" rIns="0" tIns="113760" bIns="0" anchor="ctr">
            <a:noAutofit/>
          </a:bodyPr>
          <a:p>
            <a:pPr marL="486360">
              <a:lnSpc>
                <a:spcPct val="100000"/>
              </a:lnSpc>
              <a:spcBef>
                <a:spcPts val="130"/>
              </a:spcBef>
              <a:buNone/>
            </a:pPr>
            <a:r>
              <a:rPr b="1" lang="en-IN" sz="3000" spc="-1" strike="noStrike">
                <a:solidFill>
                  <a:srgbClr val="000000"/>
                </a:solidFill>
                <a:latin typeface="Times New Roman"/>
              </a:rPr>
              <a:t>Objectives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8DA0EE2C-36CD-43E4-9E65-BB0AC65178D5}" type="datetime1">
              <a:rPr b="0" lang="en-IN" sz="1200" spc="-1" strike="noStrike">
                <a:solidFill>
                  <a:srgbClr val="8b8b8b"/>
                </a:solidFill>
                <a:latin typeface="Times New Roman"/>
              </a:rPr>
              <a:t>20/07/2026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Times New Roman"/>
              </a:rPr>
              <a:t>SCOPE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E31E22-08C9-40F9-A2D0-D2081AEE7ED3}" type="slidenum">
              <a:rPr b="0" lang="en-IN" sz="1200" spc="-1" strike="noStrike">
                <a:solidFill>
                  <a:srgbClr val="8b8b8b"/>
                </a:solidFill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pic>
        <p:nvPicPr>
          <p:cNvPr id="98" name="Picture 7" descr="3 The UN 17 Sustainable Development Goals (SDGs), implemented by all... | Download Scientific Diagram"/>
          <p:cNvPicPr/>
          <p:nvPr/>
        </p:nvPicPr>
        <p:blipFill>
          <a:blip r:embed="rId1"/>
          <a:stretch/>
        </p:blipFill>
        <p:spPr>
          <a:xfrm>
            <a:off x="8318880" y="4343400"/>
            <a:ext cx="1967760" cy="157752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8" descr="What are Technology Readiness Levels (TRL)? - TWI"/>
          <p:cNvPicPr/>
          <p:nvPr/>
        </p:nvPicPr>
        <p:blipFill>
          <a:blip r:embed="rId2"/>
          <a:stretch/>
        </p:blipFill>
        <p:spPr>
          <a:xfrm>
            <a:off x="1828800" y="4294800"/>
            <a:ext cx="2057040" cy="187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113040"/>
            <a:ext cx="10514880" cy="1258560"/>
          </a:xfrm>
          <a:prstGeom prst="rect">
            <a:avLst/>
          </a:prstGeom>
          <a:noFill/>
          <a:ln w="0">
            <a:noFill/>
          </a:ln>
        </p:spPr>
        <p:txBody>
          <a:bodyPr lIns="0" rIns="0" tIns="113760" bIns="0" anchor="ctr">
            <a:noAutofit/>
          </a:bodyPr>
          <a:p>
            <a:pPr marL="486360">
              <a:lnSpc>
                <a:spcPct val="100000"/>
              </a:lnSpc>
              <a:spcBef>
                <a:spcPts val="130"/>
              </a:spcBef>
              <a:buNone/>
            </a:pPr>
            <a:r>
              <a:rPr b="1" lang="en-IN" sz="3000" spc="-1" strike="noStrike">
                <a:solidFill>
                  <a:srgbClr val="000000"/>
                </a:solidFill>
                <a:latin typeface="Times New Roman"/>
              </a:rPr>
              <a:t>References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86520" y="1143000"/>
            <a:ext cx="10514880" cy="453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[1] "CrowdSentry: An AI-Powered Framework for Realtime Crowd Behavior Analysis and Stampede Risk Prediction," IEEE Conf. Publication, 2025.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[2] "Real-Time Stampede Risk Prediction from Crowd Videos Using YOLOv8 and Spatio-Temporal Modeling," 2025.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[3] "Real-Time Crowd Density Monitoring and Stampede Prevention Using Computer Vision and Deep Learning," Int. J. Eng. Res. Technol. (IJERT), vol. 15, no. 4, 2026.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[4] "Intelligent Crowd Monitoring and Early Warning Framework for Stampede Prevention Using YOLOv8m and CNN-LSTM Architecture," Int. J. Comput. Trends Technol. (IJCTT), vol. 74, no. 6, 2026.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[5] "Real-Time Crowd Density Estimation and Stampede Risk Assessment System Using Thermal Camera," IEEE Conf. Publication, 2025.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[6] "A New YOLO-Based Method for Real-Time Crowd Detection From Video and Performance Analysis of YOLO Models," 2023.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[7] O. Zaki, "YOLO-CROWD: A Lightweight Crowd Counting and Face Detection Model Based on YOLOv5s," GitHub repository, 2023.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[8] "Stampede Detector Based on Deep Learning Models Using Dense Optical Flow," Engineering Applications of Artificial Intelligence, Elsevier, 2025.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[9] "Stampede Detection and Crowd Analysis Using CNN-LSTM and Farneback Optical Flow," Scientific Reports, Nature, 2026.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[10] "Object Detection on Low-Compute Edge SoCs: A Reproducible Benchmark and Deployment Guidelines," Scientific Reports, Nature, 2026.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[11] "Q-YOLO: Efficient Inference for Real-Time Object Detection," arXiv:2307.04816, 2023.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[12] "A Deep Learning-Based Crowd Counting Method and System Implementation on Neural Processing Unit Platform," Computers, Materials &amp; Continua (CMC), vol. 75, no. 1, 2023.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[13] "Optimising CSRNet with Parameter-Free Attention Mechanisms for Crowd Counting in Public Transport," arXiv, 2026.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SCOPE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CA2185-807B-4B0A-B601-FD6EFDDE5343}" type="slidenum">
              <a:t>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AE7A44A8-E462-4A79-B395-F74D1C5AF07D}" type="datetime1">
              <a:rPr lang="en-US"/>
              <a:t>07/20/2026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  <Words>209</Words>
  <Paragraphs>43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2026-07-14T06:00:41Z</dcterms:created>
  <dc:creator>Parthasarathy G</dc:creator>
  <dc:description/>
  <dc:language>en-US</dc:language>
  <cp:lastModifiedBy/>
  <dcterms:modified xsi:type="dcterms:W3CDTF">2026-07-20T23:21:50Z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